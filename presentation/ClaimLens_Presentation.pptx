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abecd4b-b51b-e190-170d-655f1496e4c4}">
          <p14:sldIdLst>
            <p14:sldId id="256"/>
          </p14:sldIdLst>
        </p14:section>
        <p14:section name="Content" id="{620b9bec-f29e-5f62-98eb-9392e0bb47c7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PRODAPT CAPSTONE  |  PROJECT 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ClaimLens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AI-Powered Insurance Claims Assistant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Faster triage, smarter precedent search and earlier fraud detection for P&amp;C claims.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Ayush K Shetty</a:t>
            </a:r>
            <a:endParaRPr lang="en-US" sz="1400" dirty="0"/>
          </a:p>
        </p:txBody>
      </p:sp>
      <p:sp>
        <p:nvSpPr>
          <p:cNvPr id="7" name="Hero circle"/>
          <p:cNvSpPr/>
          <p:nvPr/>
        </p:nvSpPr>
        <p:spPr>
          <a:xfrm>
            <a:off x="6309360" y="118872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Manual claims handling is slow, inconsistent and open to fraud.</a:t>
            </a:r>
            <a:endParaRPr lang="en-US" sz="1600" dirty="0"/>
          </a:p>
        </p:txBody>
      </p:sp>
      <p:sp>
        <p:nvSpPr>
          <p:cNvPr id="4" name="Icon circle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Slow triage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review takes weeks per claim.</a:t>
            </a:r>
            <a:endParaRPr lang="en-US" sz="1400" dirty="0"/>
          </a:p>
        </p:txBody>
      </p:sp>
      <p:sp>
        <p:nvSpPr>
          <p:cNvPr id="8" name="Icon circle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9946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Hidden fraud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127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Suspicious patterns are hard to spot early.</a:t>
            </a:r>
            <a:endParaRPr lang="en-US" sz="1400" dirty="0"/>
          </a:p>
        </p:txBody>
      </p:sp>
      <p:sp>
        <p:nvSpPr>
          <p:cNvPr id="12" name="Icon circle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40005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Inconsistent payouts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133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Adjusters dig through old files for precedents.</a:t>
            </a:r>
            <a:endParaRPr lang="en-US" sz="1400" dirty="0"/>
          </a:p>
        </p:txBody>
      </p:sp>
      <p:sp>
        <p:nvSpPr>
          <p:cNvPr id="16" name="Stat card"/>
          <p:cNvSpPr/>
          <p:nvPr/>
        </p:nvSpPr>
        <p:spPr>
          <a:xfrm>
            <a:off x="5669280" y="173736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521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18-35</a:t>
            </a:r>
            <a:endParaRPr lang="en-US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58521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 to resolve an average claim</a:t>
            </a:r>
            <a:endParaRPr lang="en-US" sz="1400" dirty="0"/>
          </a:p>
        </p:txBody>
      </p:sp>
      <p:sp>
        <p:nvSpPr>
          <p:cNvPr id="19" name="Stat card"/>
          <p:cNvSpPr/>
          <p:nvPr/>
        </p:nvSpPr>
        <p:spPr>
          <a:xfrm>
            <a:off x="5669280" y="329184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5216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$308B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585216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lost to insurance fraud every year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ClaimLens finds similar claims, predicts outcomes and recommends a decision.</a:t>
            </a:r>
            <a:endParaRPr lang="en-US" sz="1600" dirty="0"/>
          </a:p>
        </p:txBody>
      </p:sp>
      <p:sp>
        <p:nvSpPr>
          <p:cNvPr id="4" name="Pillar card"/>
          <p:cNvSpPr/>
          <p:nvPr/>
        </p:nvSpPr>
        <p:spPr>
          <a:xfrm>
            <a:off x="457200" y="169164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Hybrid RAG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Vector + BM25 search finds similar past claims.</a:t>
            </a:r>
            <a:endParaRPr lang="en-US" sz="1400" dirty="0"/>
          </a:p>
        </p:txBody>
      </p:sp>
      <p:sp>
        <p:nvSpPr>
          <p:cNvPr id="9" name="Pillar card"/>
          <p:cNvSpPr/>
          <p:nvPr/>
        </p:nvSpPr>
        <p:spPr>
          <a:xfrm>
            <a:off x="2542032" y="169164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2724912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02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24912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ML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Estimates payout, resolution time and fraud risk.</a:t>
            </a:r>
            <a:endParaRPr lang="en-US" sz="1400" dirty="0"/>
          </a:p>
        </p:txBody>
      </p:sp>
      <p:sp>
        <p:nvSpPr>
          <p:cNvPr id="14" name="Pillar card"/>
          <p:cNvSpPr/>
          <p:nvPr/>
        </p:nvSpPr>
        <p:spPr>
          <a:xfrm>
            <a:off x="4626864" y="169164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4809744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334" y="20231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9744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Multi-agent flow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09744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Agents triage, investigate and assess risk.</a:t>
            </a:r>
            <a:endParaRPr lang="en-US" sz="1400" dirty="0"/>
          </a:p>
        </p:txBody>
      </p:sp>
      <p:sp>
        <p:nvSpPr>
          <p:cNvPr id="19" name="Pillar card"/>
          <p:cNvSpPr/>
          <p:nvPr/>
        </p:nvSpPr>
        <p:spPr>
          <a:xfrm>
            <a:off x="6711696" y="169164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894576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166" y="20231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94576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Adjuster UI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894576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with a human feedback loop.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Final decision:</a:t>
            </a:r>
            <a:endParaRPr lang="en-US" sz="1400" dirty="0"/>
          </a:p>
        </p:txBody>
      </p:sp>
      <p:sp>
        <p:nvSpPr>
          <p:cNvPr id="25" name="Decision chip"/>
          <p:cNvSpPr/>
          <p:nvPr/>
        </p:nvSpPr>
        <p:spPr>
          <a:xfrm>
            <a:off x="1920240" y="4160520"/>
            <a:ext cx="21031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92024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 approve</a:t>
            </a:r>
            <a:endParaRPr lang="en-US" sz="1400" dirty="0"/>
          </a:p>
        </p:txBody>
      </p:sp>
      <p:sp>
        <p:nvSpPr>
          <p:cNvPr id="27" name="Decision chip"/>
          <p:cNvSpPr/>
          <p:nvPr/>
        </p:nvSpPr>
        <p:spPr>
          <a:xfrm>
            <a:off x="4206240" y="4160520"/>
            <a:ext cx="21031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20624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Adjuster review</a:t>
            </a:r>
            <a:endParaRPr lang="en-US" sz="1400" dirty="0"/>
          </a:p>
        </p:txBody>
      </p:sp>
      <p:sp>
        <p:nvSpPr>
          <p:cNvPr id="29" name="Decision chip"/>
          <p:cNvSpPr/>
          <p:nvPr/>
        </p:nvSpPr>
        <p:spPr>
          <a:xfrm>
            <a:off x="6492240" y="4160520"/>
            <a:ext cx="210312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9224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SIU referral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Every claim moves through six automated steps.</a:t>
            </a:r>
            <a:endParaRPr lang="en-US" sz="1600" dirty="0"/>
          </a:p>
        </p:txBody>
      </p:sp>
      <p:sp>
        <p:nvSpPr>
          <p:cNvPr id="4" name="Step 1"/>
          <p:cNvSpPr/>
          <p:nvPr/>
        </p:nvSpPr>
        <p:spPr>
          <a:xfrm>
            <a:off x="457200" y="1737360"/>
            <a:ext cx="137160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Classify and set priority P1-P4</a:t>
            </a:r>
            <a:endParaRPr lang="en-US" sz="1200" dirty="0"/>
          </a:p>
        </p:txBody>
      </p:sp>
      <p:sp>
        <p:nvSpPr>
          <p:cNvPr id="8" name="Step 2"/>
          <p:cNvSpPr/>
          <p:nvPr/>
        </p:nvSpPr>
        <p:spPr>
          <a:xfrm>
            <a:off x="1810512" y="1737360"/>
            <a:ext cx="137160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10512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Retrieve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01952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Similar claims plus ML scores</a:t>
            </a:r>
            <a:endParaRPr lang="en-US" sz="1200" dirty="0"/>
          </a:p>
        </p:txBody>
      </p:sp>
      <p:sp>
        <p:nvSpPr>
          <p:cNvPr id="12" name="Step 3"/>
          <p:cNvSpPr/>
          <p:nvPr/>
        </p:nvSpPr>
        <p:spPr>
          <a:xfrm>
            <a:off x="3163824" y="1737360"/>
            <a:ext cx="137160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63824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55264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Investigate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Tenure, history and peer claims</a:t>
            </a:r>
            <a:endParaRPr lang="en-US" sz="1200" dirty="0"/>
          </a:p>
        </p:txBody>
      </p:sp>
      <p:sp>
        <p:nvSpPr>
          <p:cNvPr id="16" name="Step 4"/>
          <p:cNvSpPr/>
          <p:nvPr/>
        </p:nvSpPr>
        <p:spPr>
          <a:xfrm>
            <a:off x="4517136" y="1737360"/>
            <a:ext cx="137160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7136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Assess risk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Exposure and anomalies</a:t>
            </a:r>
            <a:endParaRPr lang="en-US" sz="1200" dirty="0"/>
          </a:p>
        </p:txBody>
      </p:sp>
      <p:sp>
        <p:nvSpPr>
          <p:cNvPr id="20" name="Step 5"/>
          <p:cNvSpPr/>
          <p:nvPr/>
        </p:nvSpPr>
        <p:spPr>
          <a:xfrm>
            <a:off x="5870448" y="1737360"/>
            <a:ext cx="137160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0448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61888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Recommend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61888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Action and adjuster checklist</a:t>
            </a:r>
            <a:endParaRPr lang="en-US" sz="1200" dirty="0"/>
          </a:p>
        </p:txBody>
      </p:sp>
      <p:sp>
        <p:nvSpPr>
          <p:cNvPr id="24" name="Step 6"/>
          <p:cNvSpPr/>
          <p:nvPr/>
        </p:nvSpPr>
        <p:spPr>
          <a:xfrm>
            <a:off x="7223760" y="1737360"/>
            <a:ext cx="1371600" cy="64008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judge checks the result</a:t>
            </a:r>
            <a:endParaRPr lang="en-US" sz="1200" dirty="0"/>
          </a:p>
        </p:txBody>
      </p:sp>
      <p:sp>
        <p:nvSpPr>
          <p:cNvPr id="28" name="Note ban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Input guardrails screen every claim first. Adjuster feedback is stored to improve the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pic>
        <p:nvPicPr>
          <p:cNvPr id="3" name="Image 0" descr="ClaimLens system architecture diagram: Streamlit UI, FastAPI gateway, LangGraph multi-agent workflow, routing and feedback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89788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3796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Entry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537960" y="15270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Streamlit UI calls a FastAPI gateway with validated input.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715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RAG and ML results feed five LangGraph agents.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39044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Risk-based routing, plus a feedback loop that retrains models.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Python end to end, from retrieval to the adjuster dashboard.</a:t>
            </a:r>
            <a:endParaRPr lang="en-US" sz="1600" dirty="0"/>
          </a:p>
        </p:txBody>
      </p:sp>
      <p:sp>
        <p:nvSpPr>
          <p:cNvPr id="4" name="Tech card"/>
          <p:cNvSpPr/>
          <p:nvPr/>
        </p:nvSpPr>
        <p:spPr>
          <a:xfrm>
            <a:off x="457200" y="160020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64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Language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 3.11</a:t>
            </a:r>
            <a:endParaRPr lang="en-US" sz="1400" dirty="0"/>
          </a:p>
        </p:txBody>
      </p:sp>
      <p:sp>
        <p:nvSpPr>
          <p:cNvPr id="7" name="Tech card"/>
          <p:cNvSpPr/>
          <p:nvPr/>
        </p:nvSpPr>
        <p:spPr>
          <a:xfrm>
            <a:off x="3108960" y="160020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664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LLM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OpenAI gpt-5-nano</a:t>
            </a:r>
            <a:endParaRPr lang="en-US" sz="1400" dirty="0"/>
          </a:p>
        </p:txBody>
      </p:sp>
      <p:sp>
        <p:nvSpPr>
          <p:cNvPr id="10" name="Tech card"/>
          <p:cNvSpPr/>
          <p:nvPr/>
        </p:nvSpPr>
        <p:spPr>
          <a:xfrm>
            <a:off x="457200" y="2350008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14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624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LangGraph</a:t>
            </a:r>
            <a:endParaRPr lang="en-US" sz="1400" dirty="0"/>
          </a:p>
        </p:txBody>
      </p:sp>
      <p:sp>
        <p:nvSpPr>
          <p:cNvPr id="13" name="Tech card"/>
          <p:cNvSpPr/>
          <p:nvPr/>
        </p:nvSpPr>
        <p:spPr>
          <a:xfrm>
            <a:off x="3108960" y="2350008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414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Hybrid retrieval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624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Embeddings + BM25</a:t>
            </a:r>
            <a:endParaRPr lang="en-US" sz="1400" dirty="0"/>
          </a:p>
        </p:txBody>
      </p:sp>
      <p:sp>
        <p:nvSpPr>
          <p:cNvPr id="16" name="Tech card"/>
          <p:cNvSpPr/>
          <p:nvPr/>
        </p:nvSpPr>
        <p:spPr>
          <a:xfrm>
            <a:off x="457200" y="3099816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741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9" name="Tech card"/>
          <p:cNvSpPr/>
          <p:nvPr/>
        </p:nvSpPr>
        <p:spPr>
          <a:xfrm>
            <a:off x="3108960" y="3099816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33741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 + Pydantic</a:t>
            </a:r>
            <a:endParaRPr lang="en-US" sz="1400" dirty="0"/>
          </a:p>
        </p:txBody>
      </p:sp>
      <p:sp>
        <p:nvSpPr>
          <p:cNvPr id="22" name="Tech card"/>
          <p:cNvSpPr/>
          <p:nvPr/>
        </p:nvSpPr>
        <p:spPr>
          <a:xfrm>
            <a:off x="457200" y="3849624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12394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Streamlit</a:t>
            </a:r>
            <a:endParaRPr lang="en-US" sz="1400" dirty="0"/>
          </a:p>
        </p:txBody>
      </p:sp>
      <p:sp>
        <p:nvSpPr>
          <p:cNvPr id="25" name="Tech card"/>
          <p:cNvSpPr/>
          <p:nvPr/>
        </p:nvSpPr>
        <p:spPr>
          <a:xfrm>
            <a:off x="3108960" y="3849624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Testing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412394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Pytest + LLM judge</a:t>
            </a:r>
            <a:endParaRPr lang="en-US" sz="1400" dirty="0"/>
          </a:p>
        </p:txBody>
      </p:sp>
      <p:sp>
        <p:nvSpPr>
          <p:cNvPr id="28" name="Results panel"/>
          <p:cNvSpPr/>
          <p:nvPr/>
        </p:nvSpPr>
        <p:spPr>
          <a:xfrm>
            <a:off x="5897880" y="1600200"/>
            <a:ext cx="2788920" cy="2926080"/>
          </a:xfrm>
          <a:prstGeom prst="roundRect">
            <a:avLst>
              <a:gd name="adj" fmla="val 32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benchmark tests passed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ms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median search over 2,000 claims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claims used to train models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imLens">
  <a:themeElements>
    <a:clrScheme name="ClaimLens">
      <a:dk1>
        <a:srgbClr val="1F2D33"/>
      </a:dk1>
      <a:lt1>
        <a:srgbClr val="FFFFFF"/>
      </a:lt1>
      <a:dk2>
        <a:srgbClr val="0B3C49"/>
      </a:dk2>
      <a:lt2>
        <a:srgbClr val="EAF2F3"/>
      </a:lt2>
      <a:accent1>
        <a:srgbClr val="0E7C7B"/>
      </a:accent1>
      <a:accent2>
        <a:srgbClr val="F2A541"/>
      </a:accent2>
      <a:accent3>
        <a:srgbClr val="2A9D8F"/>
      </a:accent3>
      <a:accent4>
        <a:srgbClr val="8FB8B5"/>
      </a:accent4>
      <a:accent5>
        <a:srgbClr val="5C7A84"/>
      </a:accent5>
      <a:accent6>
        <a:srgbClr val="D9534F"/>
      </a:accent6>
      <a:hlink>
        <a:srgbClr val="0E7C7B"/>
      </a:hlink>
      <a:folHlink>
        <a:srgbClr val="5C7A84"/>
      </a:folHlink>
    </a:clrScheme>
    <a:fontScheme name="Claim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ClaimLens - AI-Powered Insurance Claims Assistant</dc:title>
  <dc:subject>PptxGenJS Presentation</dc:subject>
  <dc:creator>Ayush K Shetty</dc:creator>
  <cp:lastModifiedBy>Ayush K Shetty</cp:lastModifiedBy>
  <cp:revision>1</cp:revision>
  <dcterms:created xsi:type="dcterms:W3CDTF">2026-10-11T05:10:18Z</dcterms:created>
  <dcterms:modified xsi:type="dcterms:W3CDTF">2026-10-11T05:10:18Z</dcterms:modified>
</cp:coreProperties>
</file>